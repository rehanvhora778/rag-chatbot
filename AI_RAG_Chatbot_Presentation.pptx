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20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J. UNIVERSITY   •   SECOND YEAR PROJECT  2025 – 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Multi-Document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66928" y="2395728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</a:t>
            </a:r>
            <a:r>
              <a:rPr lang="en-US" sz="6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your own documents and get grounded, hallucination-free answers — powered by Retrieval-Augmented Generation.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4494276"/>
            <a:ext cx="3401568" cy="1051560"/>
          </a:xfrm>
          <a:prstGeom prst="roundRect">
            <a:avLst>
              <a:gd name="adj" fmla="val 9565"/>
            </a:avLst>
          </a:prstGeom>
          <a:solidFill>
            <a:srgbClr val="1B2350">
              <a:alpha val="84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4690872"/>
            <a:ext cx="548640" cy="548640"/>
          </a:xfrm>
          <a:prstGeom prst="ellipse">
            <a:avLst/>
          </a:prstGeom>
          <a:solidFill>
            <a:srgbClr val="34D3EE">
              <a:alpha val="22000"/>
            </a:srgbClr>
          </a:solidFill>
          <a:ln w="15875">
            <a:solidFill>
              <a:srgbClr val="34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4690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81328" y="46177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Rayhan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  25002170520031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36721" y="4494276"/>
            <a:ext cx="3401568" cy="1051560"/>
          </a:xfrm>
          <a:prstGeom prst="roundRect">
            <a:avLst>
              <a:gd name="adj" fmla="val 9565"/>
            </a:avLst>
          </a:prstGeom>
          <a:solidFill>
            <a:srgbClr val="1B2350">
              <a:alpha val="84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4690872"/>
            <a:ext cx="548640" cy="548640"/>
          </a:xfrm>
          <a:prstGeom prst="ellipse">
            <a:avLst/>
          </a:prstGeom>
          <a:solidFill>
            <a:srgbClr val="A78BFA">
              <a:alpha val="22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4690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75504" y="46177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Nikhil
</a:t>
            </a:r>
            <a:r>
              <a:rPr lang="en-US" sz="11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  25002170520012</a:t>
            </a:r>
            <a:endParaRPr lang="en-US" sz="1700" dirty="0"/>
          </a:p>
          <a:p>
            <a:pPr marL="0" indent="0" algn="l">
              <a:lnSpc>
                <a:spcPct val="105000"/>
              </a:lnSpc>
              <a:buNone/>
            </a:pP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882128" y="4494276"/>
            <a:ext cx="3401568" cy="1051560"/>
          </a:xfrm>
          <a:prstGeom prst="roundRect">
            <a:avLst>
              <a:gd name="adj" fmla="val 9565"/>
            </a:avLst>
          </a:prstGeom>
          <a:solidFill>
            <a:srgbClr val="1B2350">
              <a:alpha val="84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8174736" y="4690872"/>
            <a:ext cx="548640" cy="548640"/>
          </a:xfrm>
          <a:prstGeom prst="ellipse">
            <a:avLst/>
          </a:prstGeom>
          <a:solidFill>
            <a:srgbClr val="34D3EE">
              <a:alpha val="22000"/>
            </a:srgbClr>
          </a:solidFill>
          <a:ln w="15875">
            <a:solidFill>
              <a:srgbClr val="34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4736" y="4690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69680" y="46177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Mansi</a:t>
            </a:r>
          </a:p>
          <a:p>
            <a:pPr>
              <a:lnSpc>
                <a:spcPct val="105000"/>
              </a:lnSpc>
            </a:pPr>
            <a:r>
              <a:rPr lang="en-US" sz="11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</a:t>
            </a:r>
          </a:p>
          <a:p>
            <a:pPr>
              <a:lnSpc>
                <a:spcPct val="105000"/>
              </a:lnSpc>
            </a:pPr>
            <a:r>
              <a:rPr lang="en-US" sz="1150" dirty="0">
                <a:solidFill>
                  <a:srgbClr val="B8C0E0"/>
                </a:solidFill>
                <a:latin typeface="Courier New" pitchFamily="34" charset="0"/>
                <a:cs typeface="Courier New" pitchFamily="34" charset="-120"/>
              </a:rPr>
              <a:t>24002170110135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5760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dirty="0">
                <a:solidFill>
                  <a:srgbClr val="00B0F0"/>
                </a:solidFill>
              </a:rPr>
              <a:t>Artificial Intelligence and Data Science</a:t>
            </a:r>
            <a:r>
              <a:rPr lang="en-US" sz="1350" dirty="0"/>
              <a:t>.</a:t>
            </a:r>
          </a:p>
        </p:txBody>
      </p:sp>
      <p:sp>
        <p:nvSpPr>
          <p:cNvPr id="20" name="Text 18"/>
          <p:cNvSpPr/>
          <p:nvPr/>
        </p:nvSpPr>
        <p:spPr>
          <a:xfrm>
            <a:off x="566928" y="61447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761" y="194156"/>
            <a:ext cx="1091870" cy="109187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623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Knowledge is trapped inside documents.
</a:t>
            </a:r>
            <a:endParaRPr lang="en-US" sz="17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B8C0E0"/>
                </a:solidFill>
              </a:rPr>
              <a:t>Students and teams keep answers buried across long PDFs, reports and notes. Finding one fact means scrolling through page after page.
</a:t>
            </a:r>
            <a:endParaRPr lang="en-US" sz="17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General chatbots don't help.
</a:t>
            </a:r>
            <a:endParaRPr lang="en-US" sz="17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B8C0E0"/>
                </a:solidFill>
              </a:rPr>
              <a:t>Tools like ChatGPT don't know your files, can invent facts (hallucinate), and never show a source you can verify.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37960" y="1783080"/>
            <a:ext cx="5074920" cy="1170432"/>
          </a:xfrm>
          <a:prstGeom prst="roundRect">
            <a:avLst>
              <a:gd name="adj" fmla="val 8594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12280" y="207568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4D3EE">
              <a:alpha val="18000"/>
            </a:srgbClr>
          </a:solidFill>
          <a:ln w="15875">
            <a:solidFill>
              <a:srgbClr val="34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59681" y="2315612"/>
            <a:ext cx="272125" cy="136063"/>
          </a:xfrm>
          <a:prstGeom prst="diamond">
            <a:avLst/>
          </a:prstGeom>
          <a:solidFill>
            <a:srgbClr val="34D3EE"/>
          </a:solidFill>
          <a:ln/>
        </p:spPr>
      </p:sp>
      <p:sp>
        <p:nvSpPr>
          <p:cNvPr id="8" name="Shape 6"/>
          <p:cNvSpPr/>
          <p:nvPr/>
        </p:nvSpPr>
        <p:spPr>
          <a:xfrm>
            <a:off x="6997779" y="2250302"/>
            <a:ext cx="195930" cy="114293"/>
          </a:xfrm>
          <a:prstGeom prst="diamond">
            <a:avLst/>
          </a:prstGeom>
          <a:solidFill>
            <a:srgbClr val="34D3EE">
              <a:alpha val="6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635240" y="196596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
</a:t>
            </a:r>
            <a:endParaRPr lang="en-US" sz="1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scattered across many long, unstructured documents.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37960" y="3118104"/>
            <a:ext cx="5074920" cy="1170432"/>
          </a:xfrm>
          <a:prstGeom prst="roundRect">
            <a:avLst>
              <a:gd name="adj" fmla="val 8594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12280" y="341071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A78BFA">
              <a:alpha val="18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59681" y="3525458"/>
            <a:ext cx="272125" cy="3265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4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54" dirty="0"/>
          </a:p>
        </p:txBody>
      </p:sp>
      <p:sp>
        <p:nvSpPr>
          <p:cNvPr id="13" name="Text 11"/>
          <p:cNvSpPr/>
          <p:nvPr/>
        </p:nvSpPr>
        <p:spPr>
          <a:xfrm>
            <a:off x="7635240" y="3300984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
</a:t>
            </a:r>
            <a:endParaRPr lang="en-US" sz="1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LLMs confidently invent facts and cite nothing.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37960" y="4453128"/>
            <a:ext cx="5074920" cy="1170432"/>
          </a:xfrm>
          <a:prstGeom prst="roundRect">
            <a:avLst>
              <a:gd name="adj" fmla="val 8594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12280" y="474573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0A5FA">
              <a:alpha val="18000"/>
            </a:srgbClr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4106" y="4887695"/>
            <a:ext cx="163275" cy="190488"/>
          </a:xfrm>
          <a:prstGeom prst="donut">
            <a:avLst/>
          </a:prstGeom>
          <a:solidFill>
            <a:srgbClr val="60A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981451" y="5001987"/>
            <a:ext cx="228585" cy="163275"/>
          </a:xfrm>
          <a:prstGeom prst="roundRect">
            <a:avLst>
              <a:gd name="adj" fmla="val 28002"/>
            </a:avLst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4636008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grounding
</a:t>
            </a:r>
            <a:endParaRPr lang="en-US" sz="1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 way to ask questions about your own private files.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623560" cy="1024128"/>
          </a:xfrm>
          <a:prstGeom prst="roundRect">
            <a:avLst>
              <a:gd name="adj" fmla="val 9821"/>
            </a:avLst>
          </a:prstGeom>
          <a:solidFill>
            <a:srgbClr val="1B2350">
              <a:alpha val="78000"/>
            </a:srgbClr>
          </a:solidFill>
          <a:ln w="12700">
            <a:solidFill>
              <a:srgbClr val="1E6E52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4709160"/>
            <a:ext cx="5029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  → 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that answers only from your documents, and admits when it doesn't know.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451592" y="63642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r>
              <a:rPr lang="en-US" sz="1050" dirty="0">
                <a:solidFill>
                  <a:srgbClr val="8A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20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MULTI-DOCUMENT RAG CHATBOT</a:t>
            </a:r>
            <a:endParaRPr lang="en-US" sz="95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761" y="194156"/>
            <a:ext cx="1091870" cy="109187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29000" cy="1965960"/>
          </a:xfrm>
          <a:prstGeom prst="roundRect">
            <a:avLst>
              <a:gd name="adj" fmla="val 511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39112"/>
            <a:ext cx="658368" cy="658368"/>
          </a:xfrm>
          <a:prstGeom prst="ellipse">
            <a:avLst/>
          </a:prstGeom>
          <a:solidFill>
            <a:srgbClr val="1B2350"/>
          </a:solidFill>
          <a:ln w="19050">
            <a:solidFill>
              <a:srgbClr val="34D3EE"/>
            </a:solidFill>
            <a:prstDash val="solid"/>
          </a:ln>
          <a:effectLst>
            <a:outerShdw blurRad="127000" dist="50800" dir="5400000" algn="bl" rotWithShape="0">
              <a:srgbClr val="34D3EE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391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84" dirty="0"/>
          </a:p>
        </p:txBody>
      </p:sp>
      <p:sp>
        <p:nvSpPr>
          <p:cNvPr id="7" name="Text 5"/>
          <p:cNvSpPr/>
          <p:nvPr/>
        </p:nvSpPr>
        <p:spPr>
          <a:xfrm>
            <a:off x="822960" y="2752344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chat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099816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many PDF, DOCX &amp; TXT files and query them all together.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429000" cy="1965960"/>
          </a:xfrm>
          <a:prstGeom prst="roundRect">
            <a:avLst>
              <a:gd name="adj" fmla="val 511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039112"/>
            <a:ext cx="658368" cy="658368"/>
          </a:xfrm>
          <a:prstGeom prst="ellipse">
            <a:avLst/>
          </a:prstGeom>
          <a:solidFill>
            <a:srgbClr val="1B2350"/>
          </a:solidFill>
          <a:ln w="19050">
            <a:solidFill>
              <a:srgbClr val="A78BFA"/>
            </a:solidFill>
            <a:prstDash val="solid"/>
          </a:ln>
          <a:effectLst>
            <a:outerShdw blurRad="127000" dist="50800" dir="5400000" algn="bl" rotWithShape="0">
              <a:srgbClr val="A78BFA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20391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84" dirty="0"/>
          </a:p>
        </p:txBody>
      </p:sp>
      <p:sp>
        <p:nvSpPr>
          <p:cNvPr id="12" name="Text 10"/>
          <p:cNvSpPr/>
          <p:nvPr/>
        </p:nvSpPr>
        <p:spPr>
          <a:xfrm>
            <a:off x="4507992" y="2752344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07992" y="3099816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only from the uploaded content — never from guesswork.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36992" y="1783080"/>
            <a:ext cx="3429000" cy="1965960"/>
          </a:xfrm>
          <a:prstGeom prst="roundRect">
            <a:avLst>
              <a:gd name="adj" fmla="val 511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2039112"/>
            <a:ext cx="658368" cy="658368"/>
          </a:xfrm>
          <a:prstGeom prst="ellipse">
            <a:avLst/>
          </a:prstGeom>
          <a:solidFill>
            <a:srgbClr val="1B2350"/>
          </a:solidFill>
          <a:ln w="19050">
            <a:solidFill>
              <a:srgbClr val="60A5FA"/>
            </a:solidFill>
            <a:prstDash val="solid"/>
          </a:ln>
          <a:effectLst>
            <a:outerShdw blurRad="127000" dist="50800" dir="5400000" algn="bl" rotWithShape="0">
              <a:srgbClr val="60A5FA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11312" y="20391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84" dirty="0"/>
          </a:p>
        </p:txBody>
      </p:sp>
      <p:sp>
        <p:nvSpPr>
          <p:cNvPr id="17" name="Text 15"/>
          <p:cNvSpPr/>
          <p:nvPr/>
        </p:nvSpPr>
        <p:spPr>
          <a:xfrm>
            <a:off x="8193024" y="2752344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 summaries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93024" y="3099816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 is summarized automatically — topics, findings and purpose.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77640"/>
            <a:ext cx="3429000" cy="1965960"/>
          </a:xfrm>
          <a:prstGeom prst="roundRect">
            <a:avLst>
              <a:gd name="adj" fmla="val 511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233672"/>
            <a:ext cx="658368" cy="658368"/>
          </a:xfrm>
          <a:prstGeom prst="ellipse">
            <a:avLst/>
          </a:prstGeom>
          <a:solidFill>
            <a:srgbClr val="1B2350"/>
          </a:solidFill>
          <a:ln w="19050">
            <a:solidFill>
              <a:srgbClr val="34D399"/>
            </a:solidFill>
            <a:prstDash val="solid"/>
          </a:ln>
          <a:effectLst>
            <a:outerShdw blurRad="127000" dist="50800" dir="5400000" algn="bl" rotWithShape="0">
              <a:srgbClr val="34D399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42336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84" dirty="0"/>
          </a:p>
        </p:txBody>
      </p:sp>
      <p:sp>
        <p:nvSpPr>
          <p:cNvPr id="22" name="Text 20"/>
          <p:cNvSpPr/>
          <p:nvPr/>
        </p:nvSpPr>
        <p:spPr>
          <a:xfrm>
            <a:off x="822960" y="4946904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2960" y="5294376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natural follow-up questions that build on context.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51960" y="3977640"/>
            <a:ext cx="3429000" cy="1965960"/>
          </a:xfrm>
          <a:prstGeom prst="roundRect">
            <a:avLst>
              <a:gd name="adj" fmla="val 511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233672"/>
            <a:ext cx="658368" cy="658368"/>
          </a:xfrm>
          <a:prstGeom prst="ellipse">
            <a:avLst/>
          </a:prstGeom>
          <a:solidFill>
            <a:srgbClr val="1B2350"/>
          </a:solidFill>
          <a:ln w="19050">
            <a:solidFill>
              <a:srgbClr val="FBBF24"/>
            </a:solidFill>
            <a:prstDash val="solid"/>
          </a:ln>
          <a:effectLst>
            <a:outerShdw blurRad="127000" dist="50800" dir="5400000" algn="bl" rotWithShape="0">
              <a:srgbClr val="FBBF24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26280" y="42336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84" dirty="0"/>
          </a:p>
        </p:txBody>
      </p:sp>
      <p:sp>
        <p:nvSpPr>
          <p:cNvPr id="27" name="Text 25"/>
          <p:cNvSpPr/>
          <p:nvPr/>
        </p:nvSpPr>
        <p:spPr>
          <a:xfrm>
            <a:off x="4507992" y="4946904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multi-user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07992" y="5294376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with a private, isolated vector index per user.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936992" y="3977640"/>
            <a:ext cx="3429000" cy="1965960"/>
          </a:xfrm>
          <a:prstGeom prst="roundRect">
            <a:avLst>
              <a:gd name="adj" fmla="val 511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11312" y="4233672"/>
            <a:ext cx="658368" cy="658368"/>
          </a:xfrm>
          <a:prstGeom prst="ellipse">
            <a:avLst/>
          </a:prstGeom>
          <a:solidFill>
            <a:srgbClr val="1B2350"/>
          </a:solidFill>
          <a:ln w="19050">
            <a:solidFill>
              <a:srgbClr val="34D3EE"/>
            </a:solidFill>
            <a:prstDash val="solid"/>
          </a:ln>
          <a:effectLst>
            <a:outerShdw blurRad="127000" dist="50800" dir="5400000" algn="bl" rotWithShape="0">
              <a:srgbClr val="34D3EE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11312" y="42336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84" dirty="0"/>
          </a:p>
        </p:txBody>
      </p:sp>
      <p:sp>
        <p:nvSpPr>
          <p:cNvPr id="32" name="Text 30"/>
          <p:cNvSpPr/>
          <p:nvPr/>
        </p:nvSpPr>
        <p:spPr>
          <a:xfrm>
            <a:off x="8193024" y="4946904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export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193024" y="5294376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plus one-click PDF export of any chat.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451592" y="63642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r>
              <a:rPr lang="en-US" sz="1050" dirty="0">
                <a:solidFill>
                  <a:srgbClr val="8A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10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20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MULTI-DOCUMENT RAG CHATBOT</a:t>
            </a:r>
            <a:endParaRPr lang="en-US" sz="95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761" y="194156"/>
            <a:ext cx="1091870" cy="1091870"/>
          </a:xfrm>
          <a:prstGeom prst="rect">
            <a:avLst/>
          </a:prstGeom>
        </p:spPr>
      </p:pic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550" b="1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</a:t>
            </a:r>
            <a:r>
              <a:rPr lang="en-US" sz="15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 search engine with a large language model, so answers are built from real retrieved documents instead of the model's memory.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3200400" cy="1234440"/>
          </a:xfrm>
          <a:prstGeom prst="roundRect">
            <a:avLst>
              <a:gd name="adj" fmla="val 8148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52728" y="291693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
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asks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53128" y="2697480"/>
            <a:ext cx="3200400" cy="1234440"/>
          </a:xfrm>
          <a:prstGeom prst="roundRect">
            <a:avLst>
              <a:gd name="adj" fmla="val 8148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54296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38928" y="291693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
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most relevant chunks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39328" y="2697480"/>
            <a:ext cx="3200400" cy="1234440"/>
          </a:xfrm>
          <a:prstGeom prst="roundRect">
            <a:avLst>
              <a:gd name="adj" fmla="val 8148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40496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025128" y="291693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
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a grounded answer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77056" y="3154680"/>
            <a:ext cx="457200" cy="310896"/>
          </a:xfrm>
          <a:prstGeom prst="chevron">
            <a:avLst/>
          </a:prstGeom>
          <a:solidFill>
            <a:srgbClr val="34D3EE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63256" y="3154680"/>
            <a:ext cx="457200" cy="310896"/>
          </a:xfrm>
          <a:prstGeom prst="chevron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4343400"/>
            <a:ext cx="5394960" cy="1691640"/>
          </a:xfrm>
          <a:prstGeom prst="roundRect">
            <a:avLst>
              <a:gd name="adj" fmla="val 594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55306B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4553712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LLM
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Answers from training memory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 hallucinate facts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verifiable sources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36208" y="4343400"/>
            <a:ext cx="5394960" cy="1691640"/>
          </a:xfrm>
          <a:prstGeom prst="roundRect">
            <a:avLst>
              <a:gd name="adj" fmla="val 594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1E6E52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56248" y="4553712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(our system)
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your uploaded documents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Grounded — refuses when unsure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Summarizes every file on upload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451592" y="63642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r>
              <a:rPr lang="en-US" sz="1050" dirty="0">
                <a:solidFill>
                  <a:srgbClr val="8A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10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20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MULTI-DOCUMENT RAG CHATBOT</a:t>
            </a:r>
            <a:endParaRPr lang="en-US" sz="95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761" y="194156"/>
            <a:ext cx="1091870" cy="109187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10512"/>
            <a:ext cx="3401568" cy="566928"/>
          </a:xfrm>
          <a:prstGeom prst="roundRect">
            <a:avLst>
              <a:gd name="adj" fmla="val 17742"/>
            </a:avLst>
          </a:prstGeom>
          <a:solidFill>
            <a:srgbClr val="34D3EE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65376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414016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+ Vite + Tailwind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59536" y="2944368"/>
            <a:ext cx="109728" cy="109728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2779776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9536" y="3401568"/>
            <a:ext cx="109728" cy="109728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3236976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9536" y="3858768"/>
            <a:ext cx="109728" cy="109728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69848" y="3694176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9536" y="4315968"/>
            <a:ext cx="109728" cy="109728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69848" y="4151376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98264" y="1810512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98264" y="1810512"/>
            <a:ext cx="3401568" cy="566928"/>
          </a:xfrm>
          <a:prstGeom prst="roundRect">
            <a:avLst>
              <a:gd name="adj" fmla="val 17742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865376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72584" y="2414016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 REST Framework + JWT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90872" y="2944368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4901184" y="2779776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user management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90872" y="3401568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4901184" y="3236976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APIs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90872" y="3858768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4901184" y="3694176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RAG endpoint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90872" y="4315968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4901184" y="4151376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admin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0" y="1810512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0" y="1810512"/>
            <a:ext cx="3401568" cy="566928"/>
          </a:xfrm>
          <a:prstGeom prst="roundRect">
            <a:avLst>
              <a:gd name="adj" fmla="val 17742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1865376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LAYER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03920" y="2414016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pipeline services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22208" y="2944368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/>
          <p:nvPr/>
        </p:nvSpPr>
        <p:spPr>
          <a:xfrm>
            <a:off x="8732520" y="2779776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22208" y="3401568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/>
          <p:nvPr/>
        </p:nvSpPr>
        <p:spPr>
          <a:xfrm>
            <a:off x="8732520" y="3236976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522208" y="3858768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7" name="Text 35"/>
          <p:cNvSpPr/>
          <p:nvPr/>
        </p:nvSpPr>
        <p:spPr>
          <a:xfrm>
            <a:off x="8732520" y="3694176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retrieval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522208" y="4315968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8732520" y="4151376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generation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995928" y="3182112"/>
            <a:ext cx="384048" cy="310896"/>
          </a:xfrm>
          <a:prstGeom prst="chevron">
            <a:avLst/>
          </a:prstGeom>
          <a:solidFill>
            <a:srgbClr val="34D3EE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27264" y="3182112"/>
            <a:ext cx="384048" cy="310896"/>
          </a:xfrm>
          <a:prstGeom prst="chevron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&amp;  STORAGE  LAYER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66928" y="5394960"/>
            <a:ext cx="3502152" cy="841248"/>
          </a:xfrm>
          <a:prstGeom prst="roundRect">
            <a:avLst>
              <a:gd name="adj" fmla="val 11957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5751576"/>
            <a:ext cx="128016" cy="128016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45" name="Text 43"/>
          <p:cNvSpPr/>
          <p:nvPr/>
        </p:nvSpPr>
        <p:spPr>
          <a:xfrm>
            <a:off x="1042416" y="5504688"/>
            <a:ext cx="2843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
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· chunks · chats · analytics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343400" y="5394960"/>
            <a:ext cx="3502152" cy="841248"/>
          </a:xfrm>
          <a:prstGeom prst="roundRect">
            <a:avLst>
              <a:gd name="adj" fmla="val 11957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99432" y="5751576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8" name="Text 46"/>
          <p:cNvSpPr/>
          <p:nvPr/>
        </p:nvSpPr>
        <p:spPr>
          <a:xfrm>
            <a:off x="4818888" y="5504688"/>
            <a:ext cx="2843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
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on-disk vector indexes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119872" y="5394960"/>
            <a:ext cx="3502152" cy="841248"/>
          </a:xfrm>
          <a:prstGeom prst="roundRect">
            <a:avLst>
              <a:gd name="adj" fmla="val 11957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375904" y="5751576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1" name="Text 49"/>
          <p:cNvSpPr/>
          <p:nvPr/>
        </p:nvSpPr>
        <p:spPr>
          <a:xfrm>
            <a:off x="8595360" y="5504688"/>
            <a:ext cx="2843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media
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source files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451592" y="63642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r>
              <a:rPr lang="en-US" sz="1050" dirty="0">
                <a:solidFill>
                  <a:srgbClr val="8A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10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20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MULTI-DOCUMENT RAG CHATBOT</a:t>
            </a:r>
            <a:endParaRPr lang="en-US" sz="950" dirty="0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761" y="194156"/>
            <a:ext cx="1091870" cy="109187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2615184" cy="4114800"/>
          </a:xfrm>
          <a:prstGeom prst="roundRect">
            <a:avLst>
              <a:gd name="adj" fmla="val 384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457200" cy="146304"/>
          </a:xfrm>
          <a:prstGeom prst="roundRect">
            <a:avLst>
              <a:gd name="adj" fmla="val 31250"/>
            </a:avLst>
          </a:prstGeom>
          <a:solidFill>
            <a:srgbClr val="34D3E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67712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34D3EE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40156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34D3EE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95020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34D3EE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TailwindCSS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49884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34D3EE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Framer Motion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04748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34D3EE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Recharts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01568" y="1810512"/>
            <a:ext cx="2615184" cy="4114800"/>
          </a:xfrm>
          <a:prstGeom prst="roundRect">
            <a:avLst>
              <a:gd name="adj" fmla="val 384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2084832"/>
            <a:ext cx="457200" cy="146304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267712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57600" y="285292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A78BFA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0" y="340156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A78BFA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Framework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395020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A78BFA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SimpleJWT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0" y="4504023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A78BFA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 Headers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6208" y="1810512"/>
            <a:ext cx="2615184" cy="4114800"/>
          </a:xfrm>
          <a:prstGeom prst="roundRect">
            <a:avLst>
              <a:gd name="adj" fmla="val 384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2084832"/>
            <a:ext cx="457200" cy="146304"/>
          </a:xfrm>
          <a:prstGeom prst="roundRect">
            <a:avLst>
              <a:gd name="adj" fmla="val 31250"/>
            </a:avLst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267712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285292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34D399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all-MiniLM-L6-v2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340675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34D399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 + MMR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3955384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34D399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· Llama 3.3 70B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070848" y="1810512"/>
            <a:ext cx="2615184" cy="4114800"/>
          </a:xfrm>
          <a:prstGeom prst="roundRect">
            <a:avLst>
              <a:gd name="adj" fmla="val 384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26880" y="2084832"/>
            <a:ext cx="457200" cy="146304"/>
          </a:xfrm>
          <a:prstGeom prst="roundRect">
            <a:avLst>
              <a:gd name="adj" fmla="val 31250"/>
            </a:avLst>
          </a:prstGeom>
          <a:solidFill>
            <a:srgbClr val="FBBF24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0" y="2267712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Infra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326880" y="285292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BBF2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326880" y="340156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BBF2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326880" y="395020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BBF2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PyMuPDF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451592" y="63642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r>
              <a:rPr lang="en-US" sz="1050" dirty="0">
                <a:solidFill>
                  <a:srgbClr val="8A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10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20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MULTI-DOCUMENT RAG CHATBOT</a:t>
            </a:r>
            <a:endParaRPr lang="en-US" sz="95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761" y="194156"/>
            <a:ext cx="1091870" cy="1091870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190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—  when a document is uploaded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1828800" cy="1207008"/>
          </a:xfrm>
          <a:prstGeom prst="roundRect">
            <a:avLst>
              <a:gd name="adj" fmla="val 8333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52374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
</a:t>
            </a:r>
            <a:endParaRPr lang="en-US" sz="13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TXT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2616" y="2560320"/>
            <a:ext cx="343997" cy="310896"/>
          </a:xfrm>
          <a:prstGeom prst="chevron">
            <a:avLst/>
          </a:prstGeom>
          <a:solidFill>
            <a:srgbClr val="34D3EE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3502" y="2084832"/>
            <a:ext cx="1828800" cy="1207008"/>
          </a:xfrm>
          <a:prstGeom prst="roundRect">
            <a:avLst>
              <a:gd name="adj" fmla="val 8333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9806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9806" y="252374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
</a:t>
            </a:r>
            <a:endParaRPr lang="en-US" sz="13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+ OCR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69190" y="2560320"/>
            <a:ext cx="343997" cy="310896"/>
          </a:xfrm>
          <a:prstGeom prst="chevron">
            <a:avLst/>
          </a:prstGeom>
          <a:solidFill>
            <a:srgbClr val="34D3EE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80076" y="2084832"/>
            <a:ext cx="1828800" cy="1207008"/>
          </a:xfrm>
          <a:prstGeom prst="roundRect">
            <a:avLst>
              <a:gd name="adj" fmla="val 8333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2638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26380" y="252374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
</a:t>
            </a:r>
            <a:endParaRPr lang="en-US" sz="13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chars / 200 overlap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75764" y="2560320"/>
            <a:ext cx="343997" cy="310896"/>
          </a:xfrm>
          <a:prstGeom prst="chevron">
            <a:avLst/>
          </a:prstGeom>
          <a:solidFill>
            <a:srgbClr val="34D3EE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86650" y="2084832"/>
            <a:ext cx="1828800" cy="1207008"/>
          </a:xfrm>
          <a:prstGeom prst="roundRect">
            <a:avLst>
              <a:gd name="adj" fmla="val 8333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32954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32954" y="252374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
</a:t>
            </a:r>
            <a:endParaRPr lang="en-US" sz="13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· 384-d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82338" y="2560320"/>
            <a:ext cx="343997" cy="310896"/>
          </a:xfrm>
          <a:prstGeom prst="chevron">
            <a:avLst/>
          </a:prstGeom>
          <a:solidFill>
            <a:srgbClr val="34D3EE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93224" y="2084832"/>
            <a:ext cx="1828800" cy="1207008"/>
          </a:xfrm>
          <a:prstGeom prst="roundRect">
            <a:avLst>
              <a:gd name="adj" fmla="val 8333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39528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39528" y="252374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
</a:t>
            </a:r>
            <a:endParaRPr lang="en-US" sz="13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store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35935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 —  when a question is asked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3959352"/>
            <a:ext cx="1828800" cy="1207008"/>
          </a:xfrm>
          <a:prstGeom prst="roundRect">
            <a:avLst>
              <a:gd name="adj" fmla="val 8333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" y="439826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
</a:t>
            </a:r>
            <a:endParaRPr lang="en-US" sz="13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462616" y="4434840"/>
            <a:ext cx="343997" cy="310896"/>
          </a:xfrm>
          <a:prstGeom prst="chevron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3502" y="3959352"/>
            <a:ext cx="1828800" cy="1207008"/>
          </a:xfrm>
          <a:prstGeom prst="roundRect">
            <a:avLst>
              <a:gd name="adj" fmla="val 8333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019806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019806" y="439826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
</a:t>
            </a:r>
            <a:endParaRPr lang="en-US" sz="13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69190" y="4434840"/>
            <a:ext cx="343997" cy="310896"/>
          </a:xfrm>
          <a:prstGeom prst="chevron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80076" y="3959352"/>
            <a:ext cx="1828800" cy="1207008"/>
          </a:xfrm>
          <a:prstGeom prst="roundRect">
            <a:avLst>
              <a:gd name="adj" fmla="val 8333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2638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26380" y="439826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
</a:t>
            </a:r>
            <a:endParaRPr lang="en-US" sz="13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candidates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075764" y="4434840"/>
            <a:ext cx="343997" cy="310896"/>
          </a:xfrm>
          <a:prstGeom prst="chevron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86650" y="3959352"/>
            <a:ext cx="1828800" cy="1207008"/>
          </a:xfrm>
          <a:prstGeom prst="roundRect">
            <a:avLst>
              <a:gd name="adj" fmla="val 8333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32954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632954" y="439826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
</a:t>
            </a:r>
            <a:endParaRPr lang="en-US" sz="13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top-4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382338" y="4434840"/>
            <a:ext cx="343997" cy="310896"/>
          </a:xfrm>
          <a:prstGeom prst="chevron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93224" y="3959352"/>
            <a:ext cx="1828800" cy="1207008"/>
          </a:xfrm>
          <a:prstGeom prst="roundRect">
            <a:avLst>
              <a:gd name="adj" fmla="val 8333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939528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939528" y="439826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
</a:t>
            </a:r>
            <a:endParaRPr lang="en-US" sz="13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66928" y="5532120"/>
            <a:ext cx="11055096" cy="749808"/>
          </a:xfrm>
          <a:prstGeom prst="roundRect">
            <a:avLst>
              <a:gd name="adj" fmla="val 13415"/>
            </a:avLst>
          </a:prstGeom>
          <a:solidFill>
            <a:srgbClr val="12183A">
              <a:alpha val="86000"/>
            </a:srgbClr>
          </a:solidFill>
          <a:ln w="12700">
            <a:solidFill>
              <a:srgbClr val="1E6E52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86968" y="553212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built only from the retrieved passages — or an honest ‘not found’ when the files don't cover the question.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0451592" y="63642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r>
              <a:rPr lang="en-US" sz="1050" dirty="0">
                <a:solidFill>
                  <a:srgbClr val="8A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10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20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MULTI-DOCUMENT RAG CHATBOT</a:t>
            </a:r>
            <a:endParaRPr lang="en-US" sz="95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761" y="194156"/>
            <a:ext cx="1091870" cy="1091870"/>
          </a:xfrm>
          <a:prstGeom prst="rect">
            <a:avLst/>
          </a:prstGeom>
        </p:spPr>
      </p:pic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615184" cy="1874520"/>
          </a:xfrm>
          <a:prstGeom prst="roundRect">
            <a:avLst>
              <a:gd name="adj" fmla="val 536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4D3EE">
              <a:alpha val="18000"/>
            </a:srgbClr>
          </a:solidFill>
          <a:ln w="15875">
            <a:solidFill>
              <a:srgbClr val="34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0361" y="2279036"/>
            <a:ext cx="272125" cy="136063"/>
          </a:xfrm>
          <a:prstGeom prst="diamond">
            <a:avLst/>
          </a:prstGeom>
          <a:solidFill>
            <a:srgbClr val="34D3EE"/>
          </a:solidFill>
          <a:ln/>
        </p:spPr>
      </p:sp>
      <p:sp>
        <p:nvSpPr>
          <p:cNvPr id="7" name="Shape 5"/>
          <p:cNvSpPr/>
          <p:nvPr/>
        </p:nvSpPr>
        <p:spPr>
          <a:xfrm>
            <a:off x="1008459" y="2213726"/>
            <a:ext cx="195930" cy="114293"/>
          </a:xfrm>
          <a:prstGeom prst="diamond">
            <a:avLst/>
          </a:prstGeom>
          <a:solidFill>
            <a:srgbClr val="34D3EE">
              <a:alpha val="6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1576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TXT — plus OCR for scanned pages.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615184" cy="1874520"/>
          </a:xfrm>
          <a:prstGeom prst="roundRect">
            <a:avLst>
              <a:gd name="adj" fmla="val 536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03911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0444" y="2308970"/>
            <a:ext cx="114293" cy="136063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924736" y="2181071"/>
            <a:ext cx="152390" cy="263962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71576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57600" y="306324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from your files; refuses when unsure.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71576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070848" y="1783080"/>
            <a:ext cx="2615184" cy="1874520"/>
          </a:xfrm>
          <a:prstGeom prst="roundRect">
            <a:avLst>
              <a:gd name="adj" fmla="val 536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0" y="203911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0A5FA">
              <a:alpha val="18000"/>
            </a:srgbClr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74281" y="2186513"/>
            <a:ext cx="272125" cy="195930"/>
          </a:xfrm>
          <a:prstGeom prst="roundRect">
            <a:avLst>
              <a:gd name="adj" fmla="val 37336"/>
            </a:avLst>
          </a:prstGeom>
          <a:solidFill>
            <a:srgbClr val="60A5FA"/>
          </a:solidFill>
          <a:ln/>
        </p:spPr>
      </p:sp>
      <p:sp>
        <p:nvSpPr>
          <p:cNvPr id="25" name="Shape 23"/>
          <p:cNvSpPr/>
          <p:nvPr/>
        </p:nvSpPr>
        <p:spPr>
          <a:xfrm rot="10800000">
            <a:off x="9517821" y="2349789"/>
            <a:ext cx="65310" cy="92523"/>
          </a:xfrm>
          <a:prstGeom prst="triangle">
            <a:avLst/>
          </a:prstGeom>
          <a:solidFill>
            <a:srgbClr val="60A5FA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0" y="271576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326880" y="306324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recent turns; auto-summarizes long chats.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3913632"/>
            <a:ext cx="2615184" cy="1874520"/>
          </a:xfrm>
          <a:prstGeom prst="roundRect">
            <a:avLst>
              <a:gd name="adj" fmla="val 536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4169664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4D3EE">
              <a:alpha val="18000"/>
            </a:srgbClr>
          </a:solidFill>
          <a:ln w="15875">
            <a:solidFill>
              <a:srgbClr val="34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" y="4453128"/>
            <a:ext cx="114293" cy="114293"/>
          </a:xfrm>
          <a:prstGeom prst="line">
            <a:avLst/>
          </a:prstGeom>
          <a:noFill/>
          <a:ln w="25400">
            <a:solidFill>
              <a:srgbClr val="34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2131" y="4453128"/>
            <a:ext cx="114293" cy="5443"/>
          </a:xfrm>
          <a:prstGeom prst="line">
            <a:avLst/>
          </a:prstGeom>
          <a:noFill/>
          <a:ln w="25400">
            <a:solidFill>
              <a:srgbClr val="34D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6424" y="4338835"/>
            <a:ext cx="5443" cy="114293"/>
          </a:xfrm>
          <a:prstGeom prst="line">
            <a:avLst/>
          </a:prstGeom>
          <a:noFill/>
          <a:ln w="25400">
            <a:solidFill>
              <a:srgbClr val="34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5605" y="4412309"/>
            <a:ext cx="81638" cy="81638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188062" y="4534766"/>
            <a:ext cx="59868" cy="59868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35" name="Shape 33"/>
          <p:cNvSpPr/>
          <p:nvPr/>
        </p:nvSpPr>
        <p:spPr>
          <a:xfrm>
            <a:off x="964919" y="4425915"/>
            <a:ext cx="54425" cy="54425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084654" y="4311623"/>
            <a:ext cx="54425" cy="54425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484632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retrieval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22960" y="5193792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balances relevance with variety of sources.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01568" y="3913632"/>
            <a:ext cx="2615184" cy="1874520"/>
          </a:xfrm>
          <a:prstGeom prst="roundRect">
            <a:avLst>
              <a:gd name="adj" fmla="val 536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0" y="4169664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59426" y="4311623"/>
            <a:ext cx="163275" cy="190488"/>
          </a:xfrm>
          <a:prstGeom prst="donut">
            <a:avLst/>
          </a:prstGeom>
          <a:solidFill>
            <a:srgbClr val="FBBF24"/>
          </a:solidFill>
          <a:ln/>
        </p:spPr>
      </p:sp>
      <p:sp>
        <p:nvSpPr>
          <p:cNvPr id="42" name="Shape 40"/>
          <p:cNvSpPr/>
          <p:nvPr/>
        </p:nvSpPr>
        <p:spPr>
          <a:xfrm>
            <a:off x="3826771" y="4425915"/>
            <a:ext cx="228585" cy="163275"/>
          </a:xfrm>
          <a:prstGeom prst="roundRect">
            <a:avLst>
              <a:gd name="adj" fmla="val 28002"/>
            </a:avLst>
          </a:prstGeom>
          <a:solidFill>
            <a:srgbClr val="FBBF24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0" y="484632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security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3657600" y="5193792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with private, isolated vector indexes.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36208" y="3913632"/>
            <a:ext cx="2615184" cy="1874520"/>
          </a:xfrm>
          <a:prstGeom prst="roundRect">
            <a:avLst>
              <a:gd name="adj" fmla="val 536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92240" y="4169664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39641" y="4466734"/>
            <a:ext cx="59868" cy="122456"/>
          </a:xfrm>
          <a:prstGeom prst="roundRect">
            <a:avLst>
              <a:gd name="adj" fmla="val 30547"/>
            </a:avLst>
          </a:prstGeom>
          <a:solidFill>
            <a:srgbClr val="34D399"/>
          </a:solidFill>
          <a:ln/>
        </p:spPr>
      </p:sp>
      <p:sp>
        <p:nvSpPr>
          <p:cNvPr id="48" name="Shape 46"/>
          <p:cNvSpPr/>
          <p:nvPr/>
        </p:nvSpPr>
        <p:spPr>
          <a:xfrm>
            <a:off x="6745770" y="4393260"/>
            <a:ext cx="59868" cy="195930"/>
          </a:xfrm>
          <a:prstGeom prst="roundRect">
            <a:avLst>
              <a:gd name="adj" fmla="val 30547"/>
            </a:avLst>
          </a:prstGeom>
          <a:solidFill>
            <a:srgbClr val="34D399"/>
          </a:solidFill>
          <a:ln/>
        </p:spPr>
      </p:sp>
      <p:sp>
        <p:nvSpPr>
          <p:cNvPr id="49" name="Shape 47"/>
          <p:cNvSpPr/>
          <p:nvPr/>
        </p:nvSpPr>
        <p:spPr>
          <a:xfrm>
            <a:off x="6851899" y="4330672"/>
            <a:ext cx="59868" cy="258519"/>
          </a:xfrm>
          <a:prstGeom prst="roundRect">
            <a:avLst>
              <a:gd name="adj" fmla="val 30547"/>
            </a:avLst>
          </a:prstGeom>
          <a:solidFill>
            <a:srgbClr val="34D399"/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484632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6492240" y="5193792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Usage, documents and query insights at a glance.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236208" y="1783080"/>
            <a:ext cx="2615184" cy="1874520"/>
          </a:xfrm>
          <a:prstGeom prst="roundRect">
            <a:avLst>
              <a:gd name="adj" fmla="val 5366"/>
            </a:avLst>
          </a:prstGeom>
          <a:solidFill>
            <a:srgbClr val="161D42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92240" y="203911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A78BFA">
              <a:alpha val="18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5836" y="2186513"/>
            <a:ext cx="119735" cy="272125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55" name="Text 53"/>
          <p:cNvSpPr/>
          <p:nvPr/>
        </p:nvSpPr>
        <p:spPr>
          <a:xfrm>
            <a:off x="6492240" y="271576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6492240" y="306324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any conversation as a formatted PDF.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451592" y="63642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r>
              <a:rPr lang="en-US" sz="1050" dirty="0">
                <a:solidFill>
                  <a:srgbClr val="8A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10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20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MULTI-DOCUMENT RAG CHATBOT</a:t>
            </a:r>
            <a:endParaRPr lang="en-US" sz="950" dirty="0"/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761" y="194156"/>
            <a:ext cx="1091870" cy="1091870"/>
          </a:xfrm>
          <a:prstGeom prst="rect">
            <a:avLst/>
          </a:prstGeom>
        </p:spPr>
      </p:pic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every answer are three simple steps.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502152" cy="2697480"/>
          </a:xfrm>
          <a:prstGeom prst="roundRect">
            <a:avLst>
              <a:gd name="adj" fmla="val 3729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658368" cy="658368"/>
          </a:xfrm>
          <a:prstGeom prst="ellipse">
            <a:avLst/>
          </a:prstGeom>
          <a:solidFill>
            <a:srgbClr val="1B2350"/>
          </a:solidFill>
          <a:ln w="19050">
            <a:solidFill>
              <a:srgbClr val="34D3EE"/>
            </a:solidFill>
            <a:prstDash val="solid"/>
          </a:ln>
          <a:effectLst>
            <a:outerShdw blurRad="127000" dist="50800" dir="5400000" algn="bl" rotWithShape="0">
              <a:srgbClr val="34D3EE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402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645920" y="2240280"/>
            <a:ext cx="2221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down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099816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is split into small parts, and every part is turned into a 'meaning fingerprint' the computer can compare.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4251960"/>
            <a:ext cx="2953512" cy="310896"/>
          </a:xfrm>
          <a:prstGeom prst="roundRect">
            <a:avLst>
              <a:gd name="adj" fmla="val 17647"/>
            </a:avLst>
          </a:prstGeom>
          <a:solidFill>
            <a:srgbClr val="34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MiniLM · 384-value fingerprint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502152" cy="2697480"/>
          </a:xfrm>
          <a:prstGeom prst="roundRect">
            <a:avLst>
              <a:gd name="adj" fmla="val 3729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240280"/>
            <a:ext cx="658368" cy="658368"/>
          </a:xfrm>
          <a:prstGeom prst="ellipse">
            <a:avLst/>
          </a:prstGeom>
          <a:solidFill>
            <a:srgbClr val="1B2350"/>
          </a:solidFill>
          <a:ln w="19050">
            <a:solidFill>
              <a:srgbClr val="A78BFA"/>
            </a:solidFill>
            <a:prstDash val="solid"/>
          </a:ln>
          <a:effectLst>
            <a:outerShdw blurRad="127000" dist="50800" dir="5400000" algn="bl" rotWithShape="0">
              <a:srgbClr val="A78BFA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2402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84" dirty="0"/>
          </a:p>
        </p:txBody>
      </p:sp>
      <p:sp>
        <p:nvSpPr>
          <p:cNvPr id="14" name="Text 12"/>
          <p:cNvSpPr/>
          <p:nvPr/>
        </p:nvSpPr>
        <p:spPr>
          <a:xfrm>
            <a:off x="5422392" y="2240280"/>
            <a:ext cx="2221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best matches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099816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question, the system keeps only the few parts whose meaning matches best — and skips repeats.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17720" y="4251960"/>
            <a:ext cx="2953512" cy="310896"/>
          </a:xfrm>
          <a:prstGeom prst="roundRect">
            <a:avLst>
              <a:gd name="adj" fmla="val 17647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 search · MMR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19872" y="1965960"/>
            <a:ext cx="3502152" cy="2697480"/>
          </a:xfrm>
          <a:prstGeom prst="roundRect">
            <a:avLst>
              <a:gd name="adj" fmla="val 3729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2240280"/>
            <a:ext cx="658368" cy="658368"/>
          </a:xfrm>
          <a:prstGeom prst="ellipse">
            <a:avLst/>
          </a:prstGeom>
          <a:solidFill>
            <a:srgbClr val="1B2350"/>
          </a:solidFill>
          <a:ln w="19050">
            <a:solidFill>
              <a:srgbClr val="34D399"/>
            </a:solidFill>
            <a:prstDash val="solid"/>
          </a:ln>
          <a:effectLst>
            <a:outerShdw blurRad="127000" dist="50800" dir="5400000" algn="bl" rotWithShape="0">
              <a:srgbClr val="34D399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22402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84" dirty="0"/>
          </a:p>
        </p:txBody>
      </p:sp>
      <p:sp>
        <p:nvSpPr>
          <p:cNvPr id="20" name="Text 18"/>
          <p:cNvSpPr/>
          <p:nvPr/>
        </p:nvSpPr>
        <p:spPr>
          <a:xfrm>
            <a:off x="9198864" y="2240280"/>
            <a:ext cx="2221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answer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94192" y="3099816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AI reads only those parts and writes the answer from them alone — or honestly says it doesn't know.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94192" y="4251960"/>
            <a:ext cx="2953512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 3.3 · 70B · Groq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892040"/>
            <a:ext cx="11055096" cy="1280160"/>
          </a:xfrm>
          <a:prstGeom prst="roundRect">
            <a:avLst>
              <a:gd name="adj" fmla="val 7857"/>
            </a:avLst>
          </a:prstGeom>
          <a:solidFill>
            <a:srgbClr val="12183A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2688" y="5029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shortlisting   </a:t>
            </a:r>
            <a:r>
              <a:rPr lang="en-US" sz="12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 gather 20 possible matches, then keep only the 4 best and most varied.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5175504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matches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06840" y="5202936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0C1130"/>
          </a:solidFill>
          <a:ln w="9525">
            <a:solidFill>
              <a:srgbClr val="313B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0" y="5202936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34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27080" y="51755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5614416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answer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006840" y="5641848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0C1130"/>
          </a:solidFill>
          <a:ln w="9525">
            <a:solidFill>
              <a:srgbClr val="313B7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0" y="5641848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27080" y="56144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451592" y="63642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r>
              <a:rPr lang="en-US" sz="1050" dirty="0">
                <a:solidFill>
                  <a:srgbClr val="8A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10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20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MULTI-DOCUMENT RAG CHATBOT</a:t>
            </a:r>
            <a:endParaRPr lang="en-US" sz="95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761" y="194156"/>
            <a:ext cx="1091870" cy="109187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&amp;  FUTURE SCOPE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grounded, trustworthy way to talk to your documents.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5486400" cy="3383280"/>
          </a:xfrm>
          <a:prstGeom prst="roundRect">
            <a:avLst>
              <a:gd name="adj" fmla="val 2973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468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880360"/>
            <a:ext cx="4892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B8C0E0"/>
                </a:solidFill>
              </a:rPr>
              <a:t>A secure, full-stack RAG chatbot that answers questions from a user's own PDF, DOCX and TXT files.
</a:t>
            </a:r>
            <a:endParaRPr lang="en-US" sz="13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B8C0E0"/>
                </a:solidFill>
              </a:rPr>
              <a:t>Every answer is built only from the retrieved passages, and the assistant honestly refuses when the documents don't hold the answer — eliminating hallucination and hours of manual searching.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73368" y="2286000"/>
            <a:ext cx="5248656" cy="3383280"/>
          </a:xfrm>
          <a:prstGeom prst="roundRect">
            <a:avLst>
              <a:gd name="adj" fmla="val 2973"/>
            </a:avLst>
          </a:prstGeom>
          <a:solidFill>
            <a:srgbClr val="1B2350">
              <a:alpha val="86000"/>
            </a:srgbClr>
          </a:solidFill>
          <a:ln w="12700">
            <a:solidFill>
              <a:srgbClr val="313B78"/>
            </a:solidFill>
            <a:prstDash val="solid"/>
          </a:ln>
          <a:effectLst>
            <a:outerShdw blurRad="203200" dist="63500" dir="5400000" algn="bl" rotWithShape="0">
              <a:srgbClr val="04060E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93408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93408" y="3017520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6922008" y="28620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— keyword (BM25) + semantic vectors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93408" y="3520440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6922008" y="33649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re-ranking for sharper relevance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93408" y="4023360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6922008" y="38679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sources — PPTX, HTML and live web URLs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93408" y="4526280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6922008" y="43708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queries and spoken answers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93408" y="5029200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922008" y="48737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workspaces with shared knowledge bases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761" y="194156"/>
            <a:ext cx="1091870" cy="109187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5176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  <a:r>
              <a:rPr lang="en-US" sz="7200" b="1" dirty="0">
                <a:solidFill>
                  <a:srgbClr val="34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7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761" y="194156"/>
            <a:ext cx="1091870" cy="109187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972</Words>
  <Application>Microsoft Office PowerPoint</Application>
  <PresentationFormat>Widescreen</PresentationFormat>
  <Paragraphs>225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L. J.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LJU AI&amp;ML Team</dc:creator>
  <cp:lastModifiedBy>Rehan Vhora</cp:lastModifiedBy>
  <cp:revision>12</cp:revision>
  <dcterms:created xsi:type="dcterms:W3CDTF">2026-07-20T14:41:12Z</dcterms:created>
  <dcterms:modified xsi:type="dcterms:W3CDTF">2026-08-06T11:19:40Z</dcterms:modified>
</cp:coreProperties>
</file>